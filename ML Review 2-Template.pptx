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9" r:id="rId2"/>
    <p:sldId id="506" r:id="rId3"/>
    <p:sldId id="507" r:id="rId4"/>
    <p:sldId id="508" r:id="rId5"/>
    <p:sldId id="509" r:id="rId6"/>
    <p:sldId id="510" r:id="rId7"/>
    <p:sldId id="511" r:id="rId8"/>
    <p:sldId id="512" r:id="rId9"/>
    <p:sldId id="51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23-07-2026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01641"/>
            <a:ext cx="10515600" cy="2387600"/>
          </a:xfrm>
          <a:noFill/>
        </p:spPr>
        <p:txBody>
          <a:bodyPr wrap="square">
            <a:norm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AD5305 - Machine Learning</a:t>
            </a:r>
            <a:br/>
            <a:r>
              <a:t>PBL Project Review - II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068760"/>
            <a:ext cx="4562669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Student_Name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Dept._Name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014014" y="103673"/>
            <a:ext cx="8163969" cy="12399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2563EB"/>
                </a:solidFill>
              </a:defRPr>
            </a:pPr>
            <a:r>
              <a:t>GAMEZONE: ML-BASED GAME RECOMMENDATION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2078" y="406875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 b="1" sz="1400">
                <a:solidFill>
                  <a:srgbClr val="475569"/>
                </a:solidFill>
              </a:defRPr>
            </a:pPr>
            <a:r>
              <a:t>Mentor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 b="1" sz="1600">
                <a:solidFill>
                  <a:srgbClr val="0F172A"/>
                </a:solidFill>
              </a:defRPr>
            </a:pPr>
            <a:r>
              <a:t>Dr. / Prof. Internal Mentor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 b="0" sz="1300">
                <a:solidFill>
                  <a:srgbClr val="1E293B"/>
                </a:solidFill>
              </a:defRPr>
            </a:pPr>
            <a:r>
              <a:t>Assistant Professor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 b="0" sz="1300">
                <a:solidFill>
                  <a:srgbClr val="1E293B"/>
                </a:solidFill>
              </a:defRPr>
            </a:pPr>
            <a:r>
              <a:t>Dept. of Computer Science &amp; Engineering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t>Project Progress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 wrap="square">
            <a:normAutofit/>
          </a:bodyPr>
          <a:lstStyle/>
          <a:p>
            <a:pPr marL="571500" indent="-571500">
              <a:buAutoNum type="romanUcPeriod"/>
              <a:defRPr sz="1300" b="1">
                <a:solidFill>
                  <a:srgbClr val="2563EB"/>
                </a:solidFill>
              </a:defRPr>
            </a:pPr>
            <a:r>
              <a:t>Current Progress (85% Completed)</a:t>
            </a:r>
          </a:p>
          <a:p>
            <a:pPr lvl="1">
              <a:defRPr sz="1100" b="0"/>
            </a:pPr>
            <a:r>
              <a:t>Dataset processing pipeline and extraction script fully operational.</a:t>
            </a:r>
          </a:p>
          <a:p>
            <a:pPr lvl="1">
              <a:defRPr sz="1100" b="0"/>
            </a:pPr>
            <a:r>
              <a:t>Machine Learning recommendation algorithm integrated and tested.</a:t>
            </a:r>
          </a:p>
          <a:p>
            <a:pPr lvl="1">
              <a:defRPr sz="1100" b="0"/>
            </a:pPr>
            <a:r>
              <a:t>Multi-page dynamic Single Page Application (SPA) web interface complete.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Completed Milestones</a:t>
            </a:r>
          </a:p>
          <a:p>
            <a:pPr lvl="1">
              <a:defRPr sz="1100" b="0"/>
            </a:pPr>
            <a:r>
              <a:t>Curated and parsed Steam games dataset (70,000+ raw entries filtered to top 300 games).</a:t>
            </a:r>
          </a:p>
          <a:p>
            <a:pPr lvl="1">
              <a:defRPr sz="1100" b="0"/>
            </a:pPr>
            <a:r>
              <a:t>Implemented multi-criteria weighting algorithm (Review Sentiment + CCU Popularity + User Taste).</a:t>
            </a:r>
          </a:p>
          <a:p>
            <a:pPr lvl="1">
              <a:defRPr sz="1100" b="0"/>
            </a:pPr>
            <a:r>
              <a:t>Built responsive gaming web dashboard with dark aesthetic, hero carousel, and instant search.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Remaining Work</a:t>
            </a:r>
          </a:p>
          <a:p>
            <a:pPr lvl="1">
              <a:defRPr sz="1100" b="0"/>
            </a:pPr>
            <a:r>
              <a:t>Integration of Collaborative Filtering (Matrix Factorization / Cosine Similarity embeddings).</a:t>
            </a:r>
          </a:p>
          <a:p>
            <a:pPr lvl="1">
              <a:defRPr sz="1100" b="0"/>
            </a:pPr>
            <a:r>
              <a:t>User authentication and persistent database backend (Firebase / MongoDB).</a:t>
            </a:r>
          </a:p>
          <a:p>
            <a:pPr lvl="1">
              <a:defRPr sz="1100" b="0"/>
            </a:pPr>
            <a:r>
              <a:t>Final performance benchmarking and user feedback evaluation.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Project Timeline</a:t>
            </a:r>
          </a:p>
          <a:p>
            <a:pPr lvl="1">
              <a:defRPr sz="1100" b="0"/>
            </a:pPr>
            <a:r>
              <a:t>Phase 1 (Data Acquisition &amp; Preprocessing): Completed</a:t>
            </a:r>
          </a:p>
          <a:p>
            <a:pPr lvl="1">
              <a:defRPr sz="1100" b="0"/>
            </a:pPr>
            <a:r>
              <a:t>Phase 2 (Algorithmic Modeling &amp; SPA Web UI): Completed</a:t>
            </a:r>
          </a:p>
          <a:p>
            <a:pPr lvl="1">
              <a:defRPr sz="1100" b="0"/>
            </a:pPr>
            <a:r>
              <a:t>Phase 3 (Evaluation &amp; Final Polish): In Progress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9943801-C6B0-1FC9-6F0F-9A874371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t>Data Collection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32C5-CAD1-4295-45FE-7DE915BA4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 wrap="square">
            <a:normAutofit/>
          </a:bodyPr>
          <a:lstStyle/>
          <a:p>
            <a:pPr marL="571500" indent="-571500">
              <a:buAutoNum type="romanUcPeriod"/>
              <a:defRPr sz="1300" b="1">
                <a:solidFill>
                  <a:srgbClr val="2563EB"/>
                </a:solidFill>
              </a:defRPr>
            </a:pPr>
            <a:r>
              <a:t>Dataset Overview &amp; Metadata Source</a:t>
            </a:r>
          </a:p>
          <a:p>
            <a:pPr lvl="1">
              <a:defRPr sz="1100" b="0"/>
            </a:pPr>
            <a:r>
              <a:t>Source: Steam Games Dataset containing rich metadata for over 70,000 PC games.</a:t>
            </a:r>
          </a:p>
          <a:p>
            <a:pPr lvl="1">
              <a:defRPr sz="1100" b="0"/>
            </a:pPr>
            <a:r>
              <a:t>Core Attributes: AppID, Title, Genres, Tags, Positive Reviews, Negative Reviews, Peak CCU, Metacritic Rating, Developer, Publisher, Platform Compatibility (Windows, Mac, Linux), and Header Images.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Sample Size &amp; Data Filtering</a:t>
            </a:r>
          </a:p>
          <a:p>
            <a:pPr lvl="1">
              <a:defRPr sz="1100" b="0"/>
            </a:pPr>
            <a:r>
              <a:t>Raw Ingested Records: 71,000+ game entries processed from raw CSV source.</a:t>
            </a:r>
          </a:p>
          <a:p>
            <a:pPr lvl="1">
              <a:defRPr sz="1100" b="0"/>
            </a:pPr>
            <a:r>
              <a:t>Filtered &amp; Indexed Subset: 300 top-ranked quality games optimized for real-time recommendation.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Exploratory Data Analysis &amp; Data Preprocessing</a:t>
            </a:r>
          </a:p>
          <a:p>
            <a:pPr lvl="1">
              <a:defRPr sz="1100" b="0"/>
            </a:pPr>
            <a:r>
              <a:t>Resolved column alignment &amp; multiline text parsing issues in raw Steam CSV fields.</a:t>
            </a:r>
          </a:p>
          <a:p>
            <a:pPr lvl="1">
              <a:defRPr sz="1100" b="0"/>
            </a:pPr>
            <a:r>
              <a:t>Calculated User Approval Percentage: (Positive Reviews / Total Reviews) * 10.</a:t>
            </a:r>
          </a:p>
          <a:p>
            <a:pPr lvl="1">
              <a:defRPr sz="1100" b="0"/>
            </a:pPr>
            <a:r>
              <a:t>Normalized genre taxonomy across 20+ distinct categories (Action, RPG, Strategy, Indie, etc.).</a:t>
            </a:r>
          </a:p>
          <a:p>
            <a:pPr lvl="1">
              <a:defRPr sz="1100" b="0"/>
            </a:pPr>
            <a:r>
              <a:t>Handled missing review scores using Peak CCU (Concurrent Users) log-scaled fallbacks.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B39C0-B980-A41B-A280-8B336A9A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AD570-272D-9B58-D270-8D9E2E87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t>Methodology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DB7E-8D91-BFCC-BD1C-BDC644B3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 wrap="square">
            <a:normAutofit/>
          </a:bodyPr>
          <a:lstStyle/>
          <a:p>
            <a:pPr marL="571500" indent="-571500">
              <a:buAutoNum type="romanUcPeriod"/>
              <a:defRPr sz="1300" b="1">
                <a:solidFill>
                  <a:srgbClr val="2563EB"/>
                </a:solidFill>
              </a:defRPr>
            </a:pPr>
            <a:r>
              <a:t>System Workflow Pipeline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 sz="1100" b="0"/>
            </a:pPr>
            <a:r>
              <a:t>Data Extraction: Python ETL script (extract_games.py) parses raw CSV into structured JSON.</a:t>
            </a:r>
          </a:p>
          <a:p>
            <a:pPr lvl="1">
              <a:defRPr sz="1100" b="0"/>
            </a:pPr>
            <a:r>
              <a:t>Feature Processing: Computes sentiment ratios, log-scaled popularity, and genre feature vectors.</a:t>
            </a:r>
          </a:p>
          <a:p>
            <a:pPr lvl="1">
              <a:defRPr sz="1100" b="0"/>
            </a:pPr>
            <a:r>
              <a:t>Recommendation Engine: Ranks games using dynamic user-selected genre preference matching.</a:t>
            </a:r>
          </a:p>
          <a:p>
            <a:pPr lvl="1">
              <a:defRPr sz="1100" b="0"/>
            </a:pPr>
            <a:r>
              <a:t>Web Application: Single Page Application (SPA) renders interactive hero slider &amp; recommendations.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Algorithmic Flow &amp; Hybrid Scoring Formula</a:t>
            </a:r>
          </a:p>
          <a:p>
            <a:pPr lvl="1">
              <a:defRPr sz="1100" b="0"/>
            </a:pPr>
            <a:r>
              <a:t>Score = (Base Rating x 2.0) + 0.5 x log(1 + Positive Reviews) + 3.0 x (Genre Preference Matches)</a:t>
            </a:r>
          </a:p>
          <a:p>
            <a:pPr lvl="1">
              <a:defRPr sz="1100" b="0"/>
            </a:pPr>
            <a:r>
              <a:t>Combines community approval percentage, overall game popularity, and personal genre preference.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Technology Stack</a:t>
            </a:r>
          </a:p>
          <a:p>
            <a:pPr lvl="1">
              <a:defRPr sz="1100" b="0"/>
            </a:pPr>
            <a:r>
              <a:t>Data Processing / ETL: Python 3.x (CSV parsing, JSON extraction, string normalization).</a:t>
            </a:r>
          </a:p>
          <a:p>
            <a:pPr lvl="1">
              <a:defRPr sz="1100" b="0"/>
            </a:pPr>
            <a:r>
              <a:t>Web Frontend: HTML5, Vanilla CSS3 (Custom design system, dark mode theme, CSS animations).</a:t>
            </a:r>
          </a:p>
          <a:p>
            <a:pPr lvl="1">
              <a:defRPr sz="1100" b="0"/>
            </a:pPr>
            <a:r>
              <a:t>Client Logic &amp; Routing: JavaScript ES6+ (Hash router, LocalStorage state, real-time UI).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EB03C-AEC7-289A-7AE4-AFF9D11C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4589D-EACD-580D-42F9-CFEB56DA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System Architecture &amp; Module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35F0-73F4-6883-9D0F-D2984C08E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005840"/>
            <a:ext cx="5303520" cy="5181283"/>
          </a:xfrm>
          <a:noFill/>
        </p:spPr>
        <p:txBody>
          <a:bodyPr wrap="square">
            <a:normAutofit/>
          </a:bodyPr>
          <a:lstStyle/>
          <a:p>
            <a:pPr marL="571500" indent="-571500">
              <a:buAutoNum type="romanUcPeriod"/>
              <a:defRPr sz="1300" b="1">
                <a:solidFill>
                  <a:srgbClr val="2563EB"/>
                </a:solidFill>
              </a:defRPr>
            </a:pPr>
            <a:r>
              <a:t>Architectural Diagram &amp; Layered System Design</a:t>
            </a:r>
          </a:p>
          <a:p>
            <a:pPr lvl="1">
              <a:defRPr sz="1100" b="0"/>
            </a:pPr>
            <a:r>
              <a:t>Data Tier: Raw Steam CSV -&gt; Python ETL Parser (extract_games.py) -&gt; Cleaned JSON Data Store.</a:t>
            </a:r>
          </a:p>
          <a:p>
            <a:pPr lvl="1">
              <a:defRPr sz="1100" b="0"/>
            </a:pPr>
            <a:r>
              <a:t>Logic Tier: Hybrid Scoring Algorithm + LocalStorage User Preferences Manager.</a:t>
            </a:r>
          </a:p>
          <a:p>
            <a:pPr lvl="1">
              <a:defRPr sz="1100" b="0"/>
            </a:pPr>
            <a:r>
              <a:t>Presentation Tier: Client SPA Router managing pages (#discover, #trending, #browse, #recommendations).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Core APIs &amp; Functional Modules</a:t>
            </a:r>
          </a:p>
          <a:p>
            <a:pPr lvl="1">
              <a:defRPr sz="1100" b="0"/>
            </a:pPr>
            <a:r>
              <a:t>Hash Router Module: Seamless single-page navigation without full page reloads.</a:t>
            </a:r>
          </a:p>
          <a:p>
            <a:pPr lvl="1">
              <a:defRPr sz="1100" b="0"/>
            </a:pPr>
            <a:r>
              <a:t>Global Search &amp; Filter Engine: Multi-field search overlay (Title, Genre, Developer, Platform).</a:t>
            </a:r>
          </a:p>
          <a:p>
            <a:pPr lvl="1">
              <a:defRPr sz="1100" b="0"/>
            </a:pPr>
            <a:r>
              <a:t>Steam CDN Integration: Direct streaming of official game header graphics via Akamai CDN.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Hardware &amp; Software Requirements</a:t>
            </a:r>
          </a:p>
          <a:p>
            <a:pPr lvl="1">
              <a:defRPr sz="1100" b="0"/>
            </a:pPr>
            <a:r>
              <a:t>Software Stack: Python 3.13, Modern Web Browser (Chrome/Edge/Firefox), Code Editor.</a:t>
            </a:r>
          </a:p>
          <a:p>
            <a:pPr lvl="1">
              <a:defRPr sz="1100" b="0"/>
            </a:pPr>
            <a:r>
              <a:t>Hardware Specifications: 4GB RAM, Dual-Core 2.0 GHz CPU (Lightweight, zero server load).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FF564-79B7-2DA4-D1EF-F9A5F201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09BAEF-CA79-9AEE-3472-847DB959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gamezone_architecture_diagram_17849147906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669280" cy="316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2AC1-0C6F-B3B8-EAB0-97CD590A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DD0A-76B6-2841-9A88-92425632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t>Implementation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3C8B9-0D5B-0FDD-BB5F-E086DAAD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 wrap="square">
            <a:normAutofit/>
          </a:bodyPr>
          <a:lstStyle/>
          <a:p>
            <a:pPr marL="571500" indent="-571500">
              <a:buAutoNum type="romanUcPeriod"/>
              <a:defRPr sz="1300" b="1">
                <a:solidFill>
                  <a:srgbClr val="2563EB"/>
                </a:solidFill>
              </a:defRPr>
            </a:pPr>
            <a:r>
              <a:t>Code Architecture &amp; Repository Structure</a:t>
            </a:r>
          </a:p>
          <a:p>
            <a:pPr lvl="1">
              <a:defRPr sz="1100" b="0"/>
            </a:pPr>
            <a:r>
              <a:t>Modular SPA setup separating data pipeline, presentation markup, and client logic.</a:t>
            </a:r>
          </a:p>
          <a:p>
            <a:pPr lvl="1">
              <a:defRPr sz="1100" b="0"/>
            </a:pPr>
            <a:r>
              <a:t>Data Pipeline: app/data/extract_games.py (CSV ingestion, clean JSON export).</a:t>
            </a:r>
          </a:p>
          <a:p>
            <a:pPr lvl="1">
              <a:defRPr sz="1100" b="0"/>
            </a:pPr>
            <a:r>
              <a:t>Frontend Stack: app/index.html, app/styles.css, app/script.js.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Development IDE &amp; Tools Used</a:t>
            </a:r>
          </a:p>
          <a:p>
            <a:pPr lvl="1">
              <a:defRPr sz="1100" b="0"/>
            </a:pPr>
            <a:r>
              <a:t>IDE: Visual Studio Code / Google Antigravity Agentic IDE.</a:t>
            </a:r>
          </a:p>
          <a:p>
            <a:pPr lvl="1">
              <a:defRPr sz="1100" b="0"/>
            </a:pPr>
            <a:r>
              <a:t>Environment: Python 3.13 runtime, Windows 11 PowerShell environment.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Libraries &amp; Framework Dependencies</a:t>
            </a:r>
          </a:p>
          <a:p>
            <a:pPr lvl="1">
              <a:defRPr sz="1100" b="0"/>
            </a:pPr>
            <a:r>
              <a:t>Python: csv, json, re, os (Zero heavy external dependency overhead).</a:t>
            </a:r>
          </a:p>
          <a:p>
            <a:pPr lvl="1">
              <a:defRPr sz="1100" b="0"/>
            </a:pPr>
            <a:r>
              <a:t>Web Technologies: Native Web APIs (Fetch API, Web Storage API, DOM Mutation).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GitHub Repository</a:t>
            </a:r>
          </a:p>
          <a:p>
            <a:pPr lvl="1">
              <a:defRPr sz="1100" b="0"/>
            </a:pPr>
            <a:r>
              <a:t>GitHub URL: https://github.com/jaiharish/gamezone-ml-recommender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B69223-F761-F9FB-18A4-5B80FFD6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3C3A-3EAC-5035-FEF7-0E51CFBB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42053-A507-8F09-F95C-297A3CC6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79A48-F6D9-C56E-5A9F-CE27BDA4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7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1BBE3-0968-455A-5382-119FEECA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F11B-5E3A-17F5-50DE-3BB8658E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defRPr b="1">
                <a:solidFill>
                  <a:srgbClr val="0F172A"/>
                </a:solidFill>
              </a:defRPr>
            </a:pPr>
            <a:r>
              <a:t>Implementation Progress &amp; Working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1C6B9-ABBE-7000-D77E-58DF88553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005840"/>
            <a:ext cx="5303520" cy="5181283"/>
          </a:xfrm>
          <a:noFill/>
        </p:spPr>
        <p:txBody>
          <a:bodyPr wrap="square">
            <a:normAutofit/>
          </a:bodyPr>
          <a:lstStyle/>
          <a:p>
            <a:pPr marL="571500" indent="-571500">
              <a:buAutoNum type="romanUcPeriod"/>
              <a:defRPr sz="1300" b="1">
                <a:solidFill>
                  <a:srgbClr val="2563EB"/>
                </a:solidFill>
              </a:defRPr>
            </a:pPr>
            <a:r>
              <a:t>Working Prototype &amp; Live Web Pages</a:t>
            </a:r>
          </a:p>
          <a:p>
            <a:pPr lvl="1">
              <a:defRPr sz="1100" b="0"/>
            </a:pPr>
            <a:r>
              <a:t>Discover Page: Dynamic hero carousel showcasing top rated games with rating score badges.</a:t>
            </a:r>
          </a:p>
          <a:p>
            <a:pPr lvl="1">
              <a:defRPr sz="1100" b="0"/>
            </a:pPr>
            <a:r>
              <a:t>Recommendations ('For You'): Real-time genre chip selection re-ranks recommendation feed.</a:t>
            </a:r>
          </a:p>
          <a:p>
            <a:pPr lvl="1">
              <a:defRPr sz="1100" b="0"/>
            </a:pPr>
            <a:r>
              <a:t>Browse &amp; Filter: Filter by genre, platform (Win/Mac/Linux), and sort by popularity/score.</a:t>
            </a:r>
          </a:p>
          <a:p>
            <a:pPr lvl="1">
              <a:defRPr sz="1100" b="0"/>
            </a:pPr>
            <a:r>
              <a:t>Game Details View: Comprehensive game statistics, positive/negative reviews, &amp; similar games.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Sample Output &amp; Recommendation Results</a:t>
            </a:r>
          </a:p>
          <a:p>
            <a:pPr lvl="1">
              <a:defRPr sz="1100" b="0"/>
            </a:pPr>
            <a:r>
              <a:t>Genre Filter Query: 'Action + RPG' -&gt; Returns Cyberpunk 2077, Elden Ring, The Witcher 3.</a:t>
            </a:r>
          </a:p>
          <a:p>
            <a:pPr lvl="1">
              <a:defRPr sz="1100" b="0"/>
            </a:pPr>
            <a:r>
              <a:t>Real-time Search Overlay: Instant fuzzy title search with game artwork thumbnails.</a:t>
            </a:r>
          </a:p>
          <a:p>
            <a:pPr lvl="1">
              <a:defRPr sz="1100" b="0"/>
            </a:pPr>
            <a:r>
              <a:t>User Taste Profile: Preferences saved persistently across browser sessions via LocalStorage.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99614-61A2-A43F-7067-E5560494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57B34-3797-36A2-300B-6DBE01C8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B5DC3-716F-732A-B903-7B3C45B5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7B35E-5BCD-76F5-E2ED-23462FF0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gamezone_dashboard_ui_17849147633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97280"/>
            <a:ext cx="5669280" cy="3164249"/>
          </a:xfrm>
          <a:prstGeom prst="rect">
            <a:avLst/>
          </a:prstGeom>
        </p:spPr>
      </p:pic>
      <p:pic>
        <p:nvPicPr>
          <p:cNvPr id="10" name="Picture 9" descr="gamezone_recs_ui_17849147780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931920"/>
            <a:ext cx="5669280" cy="316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6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202E-22EB-3F24-3925-E63816F2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C5A9-C6F0-D2ED-F6D4-7C06CD80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t>Current Challenges &amp; Future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AD73-49E1-A8B4-BDE6-2BBC8FF38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08" y="995680"/>
            <a:ext cx="5257800" cy="5181283"/>
          </a:xfrm>
          <a:noFill/>
        </p:spPr>
        <p:txBody>
          <a:bodyPr wrap="square">
            <a:normAutofit/>
          </a:bodyPr>
          <a:lstStyle/>
          <a:p>
            <a:pPr marL="0" indent="0">
              <a:buNone/>
              <a:defRPr sz="1300" b="1">
                <a:solidFill>
                  <a:srgbClr val="2563EB"/>
                </a:solidFill>
              </a:defRPr>
            </a:pPr>
            <a:r>
              <a:t>Current Project Challenges</a:t>
            </a:r>
          </a:p>
          <a:p>
            <a:pPr lvl="1">
              <a:defRPr sz="1100" b="1"/>
            </a:pPr>
            <a:r>
              <a:t>Tech Challenges</a:t>
            </a:r>
          </a:p>
          <a:p>
            <a:pPr lvl="2">
              <a:defRPr sz="1000" b="0"/>
            </a:pPr>
            <a:r>
              <a:t>DOM rendering performance with large game lists without virtualized scrolling lists.</a:t>
            </a:r>
          </a:p>
          <a:p>
            <a:pPr lvl="1">
              <a:defRPr sz="1100" b="1"/>
            </a:pPr>
            <a:r>
              <a:t>Dataset Challenges</a:t>
            </a:r>
          </a:p>
          <a:p>
            <a:pPr lvl="2">
              <a:defRPr sz="1000" b="0"/>
            </a:pPr>
            <a:r>
              <a:t>Handling multiline descriptions and column offset shifts in raw Steam CSV data.</a:t>
            </a:r>
          </a:p>
          <a:p>
            <a:pPr lvl="1">
              <a:defRPr sz="1100" b="1"/>
            </a:pPr>
            <a:r>
              <a:t>Implementation Challenges</a:t>
            </a:r>
          </a:p>
          <a:p>
            <a:pPr lvl="2">
              <a:defRPr sz="1000" b="0"/>
            </a:pPr>
            <a:r>
              <a:t>Cold-start recommendation for brand new users prior to selecting genre preferences.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81CBE5-4484-E08A-E24B-4981F700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B83754-DDEA-2B3C-F597-47D8E58A6753}"/>
              </a:ext>
            </a:extLst>
          </p:cNvPr>
          <p:cNvSpPr txBox="1">
            <a:spLocks/>
          </p:cNvSpPr>
          <p:nvPr/>
        </p:nvSpPr>
        <p:spPr>
          <a:xfrm>
            <a:off x="6142892" y="995679"/>
            <a:ext cx="5257800" cy="5181283"/>
          </a:xfrm>
          <a:prstGeom prst="rect">
            <a:avLst/>
          </a:prstGeom>
          <a:noFill/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300" b="1">
                <a:solidFill>
                  <a:srgbClr val="2563EB"/>
                </a:solidFill>
              </a:defRPr>
            </a:pPr>
            <a:r>
              <a:t>Next Plan &amp; Future Direction</a:t>
            </a:r>
          </a:p>
          <a:p>
            <a:pPr lvl="1">
              <a:defRPr sz="1100" b="1"/>
            </a:pPr>
            <a:r>
              <a:t>Model Optimization</a:t>
            </a:r>
          </a:p>
          <a:p>
            <a:pPr lvl="2">
              <a:defRPr sz="1000" b="0"/>
            </a:pPr>
            <a:r>
              <a:t>Implement TF-IDF &amp; Cosine Similarity vector matrix for deeper content-based matching.</a:t>
            </a:r>
          </a:p>
          <a:p>
            <a:pPr lvl="2">
              <a:defRPr sz="1000" b="0"/>
            </a:pPr>
            <a:r>
              <a:t>Incorporate Matrix Factorization / Collaborative Filtering algorithm.</a:t>
            </a:r>
          </a:p>
          <a:p>
            <a:pPr lvl="1">
              <a:defRPr sz="1100" b="1"/>
            </a:pPr>
            <a:r>
              <a:t>Performance Evaluation</a:t>
            </a:r>
          </a:p>
          <a:p>
            <a:pPr lvl="2">
              <a:defRPr sz="1000" b="0"/>
            </a:pPr>
            <a:r>
              <a:t>Evaluate model precision using Precision@K, Recall@K, and MAP@K metrics.</a:t>
            </a:r>
          </a:p>
          <a:p>
            <a:pPr lvl="1">
              <a:defRPr sz="1100" b="1"/>
            </a:pPr>
            <a:r>
              <a:t>System Testing &amp; Deployment</a:t>
            </a:r>
          </a:p>
          <a:p>
            <a:pPr lvl="2">
              <a:defRPr sz="1000" b="0"/>
            </a:pPr>
            <a:r>
              <a:t>Develop FastAPI REST service and deploy web app on Vercel/Netlify cloud.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2F9D38-E44C-A95E-90BD-7D1E16AE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D55492-6EBF-65F3-4F33-CAEA0DE9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36BB2-C7E7-1888-F534-A1645CD0C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5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9</a:t>
            </a:fld>
            <a:endParaRPr lang="en-IN" dirty="0"/>
          </a:p>
        </p:txBody>
      </p:sp>
      <p:pic>
        <p:nvPicPr>
          <p:cNvPr id="12" name="Picture 11" descr="445 Handshake Thank You Stock Vectors and Vector Art | Shutterstock">
            <a:extLst>
              <a:ext uri="{FF2B5EF4-FFF2-40B4-BE49-F238E27FC236}">
                <a16:creationId xmlns:a16="http://schemas.microsoft.com/office/drawing/2014/main" id="{0744CD32-84C7-7BD3-01FF-8F00C01B58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75" t="58286" r="27620" b="14678"/>
          <a:stretch>
            <a:fillRect/>
          </a:stretch>
        </p:blipFill>
        <p:spPr>
          <a:xfrm>
            <a:off x="3814664" y="4155896"/>
            <a:ext cx="4562670" cy="14391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4" y="5477052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 b="1" sz="1800">
                <a:solidFill>
                  <a:srgbClr val="0F172A"/>
                </a:solidFill>
              </a:defRPr>
            </a:pPr>
            <a:r>
              <a:t>Jai Harish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 b="0" sz="1400">
                <a:solidFill>
                  <a:srgbClr val="1E293B"/>
                </a:solidFill>
              </a:defRPr>
            </a:pPr>
            <a:r>
              <a:t>Email: jaiharish@example.com</a:t>
            </a:r>
          </a:p>
          <a:p>
            <a:pPr>
              <a:defRPr b="0" sz="1300">
                <a:solidFill>
                  <a:srgbClr val="2563EB"/>
                </a:solidFill>
              </a:defRPr>
            </a:pPr>
            <a:r>
              <a:t>GitHub: github.com/jaiharish/gamezone-ml-recommender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D89810-5C91-2F79-7E8D-214F321D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II Year PBL Project Review - II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Date: 25/07/2026</a:t>
            </a:r>
          </a:p>
        </p:txBody>
      </p: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291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AD5305 – Machine Learning PBL Project Review–II</vt:lpstr>
      <vt:lpstr> Project Progress Overview</vt:lpstr>
      <vt:lpstr> Data Collection &amp; Analysis</vt:lpstr>
      <vt:lpstr> Methodology &amp; Design</vt:lpstr>
      <vt:lpstr> System Architecture &amp; Module Design </vt:lpstr>
      <vt:lpstr> Implementation Environment </vt:lpstr>
      <vt:lpstr> Implementation Progress</vt:lpstr>
      <vt:lpstr>Current Challenges &amp; Future Direction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Jagadiswary D</cp:lastModifiedBy>
  <cp:revision>13</cp:revision>
  <dcterms:created xsi:type="dcterms:W3CDTF">2025-03-10T15:11:33Z</dcterms:created>
  <dcterms:modified xsi:type="dcterms:W3CDTF">2026-07-23T05:39:56Z</dcterms:modified>
</cp:coreProperties>
</file>